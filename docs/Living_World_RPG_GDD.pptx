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B705B"/>
                </a:solidFill>
                <a:latin typeface="Aptos"/>
              </a:rPr>
              <a:t>PROJECT GDD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2A2D2A"/>
                </a:solidFill>
                <a:latin typeface="Aptos"/>
              </a:rPr>
              <a:t>Working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666760"/>
                </a:solidFill>
                <a:latin typeface="Aptos"/>
              </a:rPr>
              <a:t>A living-world fantasy RPG where ancient gods, magical technology, giant mechs, and spaceships coexist.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40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B88B52"/>
                </a:solidFill>
                <a:latin typeface="Aptos"/>
              </a:rPr>
              <a:t>Art Direction • World • Systems •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1. Game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The experience we are trying to 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Core idea — </a:t>
            </a:r>
            <a:r>
              <a:rPr sz="1800">
                <a:solidFill>
                  <a:srgbClr val="2A2D2A"/>
                </a:solidFill>
                <a:latin typeface="Aptos"/>
              </a:rPr>
              <a:t>A solo RPG set in a living world that continues to change without the player.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Player role — </a:t>
            </a:r>
            <a:r>
              <a:rPr sz="1800">
                <a:solidFill>
                  <a:srgbClr val="2A2D2A"/>
                </a:solidFill>
                <a:latin typeface="Aptos"/>
              </a:rPr>
              <a:t>The player is not the center of the universe; they are one person capable of interfering with other people's lives.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Fantasy — </a:t>
            </a:r>
            <a:r>
              <a:rPr sz="1800">
                <a:solidFill>
                  <a:srgbClr val="2A2D2A"/>
                </a:solidFill>
                <a:latin typeface="Aptos"/>
              </a:rPr>
              <a:t>Ancient fantasy societies are inheriting the technology of retired gods and interpreting it as magic.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Scale — </a:t>
            </a:r>
            <a:r>
              <a:rPr sz="1800">
                <a:solidFill>
                  <a:srgbClr val="2A2D2A"/>
                </a:solidFill>
                <a:latin typeface="Aptos"/>
              </a:rPr>
              <a:t>Start personal and local, then gradually reveal kingdoms, worlds, spaceships, mechs, and the gods themselves.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Goal — </a:t>
            </a:r>
            <a:r>
              <a:rPr sz="1800">
                <a:solidFill>
                  <a:srgbClr val="2A2D2A"/>
                </a:solidFill>
                <a:latin typeface="Aptos"/>
              </a:rPr>
              <a:t>Make players feel that they are living through a period of history rather than completing a list of quests.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2. Design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337560" cy="1600200"/>
          </a:xfrm>
          <a:prstGeom prst="roundRect">
            <a:avLst/>
          </a:prstGeom>
          <a:solidFill>
            <a:srgbClr val="E5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5B705B"/>
                </a:solidFill>
                <a:latin typeface="Aptos"/>
              </a:rPr>
              <a:t>LIVING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76272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2D2A"/>
                </a:solidFill>
                <a:latin typeface="Aptos"/>
              </a:rPr>
              <a:t>NPCs have routines, relationships, goals, and autonomy.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54480"/>
            <a:ext cx="3337560" cy="1600200"/>
          </a:xfrm>
          <a:prstGeom prst="roundRect">
            <a:avLst/>
          </a:prstGeom>
          <a:solidFill>
            <a:srgbClr val="E5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5B705B"/>
                </a:solidFill>
                <a:latin typeface="Aptos"/>
              </a:rPr>
              <a:t>GLOBAL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76272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2D2A"/>
                </a:solidFill>
                <a:latin typeface="Aptos"/>
              </a:rPr>
              <a:t>A persistent calendar drives recurring and scheduled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554480"/>
            <a:ext cx="3337560" cy="1600200"/>
          </a:xfrm>
          <a:prstGeom prst="roundRect">
            <a:avLst/>
          </a:prstGeom>
          <a:solidFill>
            <a:srgbClr val="E5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7373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5B705B"/>
                </a:solidFill>
                <a:latin typeface="Aptos"/>
              </a:rPr>
              <a:t>PLAYER INTERVENTION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176272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2D2A"/>
                </a:solidFill>
                <a:latin typeface="Aptos"/>
              </a:rPr>
              <a:t>Players can enter people's lives and redirect outcomes.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11880"/>
            <a:ext cx="3337560" cy="1600200"/>
          </a:xfrm>
          <a:prstGeom prst="roundRect">
            <a:avLst/>
          </a:prstGeom>
          <a:solidFill>
            <a:srgbClr val="E5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947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5B705B"/>
                </a:solidFill>
                <a:latin typeface="Aptos"/>
              </a:rPr>
              <a:t>ANCIENT MYSTERY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33672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2D2A"/>
                </a:solidFill>
                <a:latin typeface="Aptos"/>
              </a:rPr>
              <a:t>Godly technology survives as artifacts, ruins, magic, mechs, and ships.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11880"/>
            <a:ext cx="3337560" cy="1600200"/>
          </a:xfrm>
          <a:prstGeom prst="roundRect">
            <a:avLst/>
          </a:prstGeom>
          <a:solidFill>
            <a:srgbClr val="E5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7947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5B705B"/>
                </a:solidFill>
                <a:latin typeface="Aptos"/>
              </a:rPr>
              <a:t>PERSONAL → COSMIC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233672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2D2A"/>
                </a:solidFill>
                <a:latin typeface="Aptos"/>
              </a:rPr>
              <a:t>Small choices can eventually connect to larger historical events.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3. World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Ancient fantasy entering an industrial and spacefaring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The Gods — </a:t>
            </a:r>
            <a:r>
              <a:rPr sz="1800">
                <a:solidFill>
                  <a:srgbClr val="2A2D2A"/>
                </a:solidFill>
                <a:latin typeface="Aptos"/>
              </a:rPr>
              <a:t>The gods did not die. They retired and became observers, leaving their civilizations behind.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Godly Civilization — </a:t>
            </a:r>
            <a:r>
              <a:rPr sz="1800">
                <a:solidFill>
                  <a:srgbClr val="2A2D2A"/>
                </a:solidFill>
                <a:latin typeface="Aptos"/>
              </a:rPr>
              <a:t>Ancient infrastructure, weapons, machines, and knowledge survive long after their creators withdrew.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Modern Interpretation — </a:t>
            </a:r>
            <a:r>
              <a:rPr sz="1800">
                <a:solidFill>
                  <a:srgbClr val="2A2D2A"/>
                </a:solidFill>
                <a:latin typeface="Aptos"/>
              </a:rPr>
              <a:t>Mortals call many remnants magical artifacts because the original technology is poorly understood.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Industrialization — </a:t>
            </a:r>
            <a:r>
              <a:rPr sz="1800">
                <a:solidFill>
                  <a:srgbClr val="2A2D2A"/>
                </a:solidFill>
                <a:latin typeface="Aptos"/>
              </a:rPr>
              <a:t>Magic and recovered technology are being adapted into factories, railways, airships, and modern industry.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Spacefaring Age — </a:t>
            </a:r>
            <a:r>
              <a:rPr sz="1800">
                <a:solidFill>
                  <a:srgbClr val="2A2D2A"/>
                </a:solidFill>
                <a:latin typeface="Aptos"/>
              </a:rPr>
              <a:t>The same civilization eventually reaches orbit and begins interacting with other worlds.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4. Worlds &amp; Pantheons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Each world carries the cultural identity of its former gods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World diversity — </a:t>
            </a:r>
            <a:r>
              <a:rPr sz="1800">
                <a:solidFill>
                  <a:srgbClr val="2A2D2A"/>
                </a:solidFill>
                <a:latin typeface="Aptos"/>
              </a:rPr>
              <a:t>Different worlds were governed by different pantheons, producing distinct cultures, architecture, religions, technology, and magic.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Example: Shinto-inspired world — </a:t>
            </a:r>
            <a:r>
              <a:rPr sz="1800">
                <a:solidFill>
                  <a:srgbClr val="2A2D2A"/>
                </a:solidFill>
                <a:latin typeface="Aptos"/>
              </a:rPr>
              <a:t>Shrines, spirits, sacred forests, ancestral traditions, and spirit-based magic.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Example: Greco-Roman-inspired world — </a:t>
            </a:r>
            <a:r>
              <a:rPr sz="1800">
                <a:solidFill>
                  <a:srgbClr val="2A2D2A"/>
                </a:solidFill>
                <a:latin typeface="Aptos"/>
              </a:rPr>
              <a:t>Marble cities, temples, heroic traditions, imperial infrastructure, and divine/celestial magic.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Megaworlds — </a:t>
            </a:r>
            <a:r>
              <a:rPr sz="1800">
                <a:solidFill>
                  <a:srgbClr val="2A2D2A"/>
                </a:solidFill>
                <a:latin typeface="Aptos"/>
              </a:rPr>
              <a:t>Some planets are small frontier worlds; others are enormous civilization-spanning city worlds.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Shared history — </a:t>
            </a:r>
            <a:r>
              <a:rPr sz="1800">
                <a:solidFill>
                  <a:srgbClr val="2A2D2A"/>
                </a:solidFill>
                <a:latin typeface="Aptos"/>
              </a:rPr>
              <a:t>Despite cultural differences, all worlds are connected by the ancient godly civilization and the same wider universe.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5. Magic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Different forms of magic are cultural interfaces with a deeper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Magic is real — </a:t>
            </a:r>
            <a:r>
              <a:rPr sz="1800">
                <a:solidFill>
                  <a:srgbClr val="2A2D2A"/>
                </a:solidFill>
                <a:latin typeface="Aptos"/>
              </a:rPr>
              <a:t>Modern people can genuinely manipulate supernatural forces, even if they misunderstand their origins.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Different traditions — </a:t>
            </a:r>
            <a:r>
              <a:rPr sz="1800">
                <a:solidFill>
                  <a:srgbClr val="2A2D2A"/>
                </a:solidFill>
                <a:latin typeface="Aptos"/>
              </a:rPr>
              <a:t>Spirit magic, rune magic, elemental magic, divine magic, astral magic, alchemy, and magitech can all exist.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Cultural interpretation — </a:t>
            </a:r>
            <a:r>
              <a:rPr sz="1800">
                <a:solidFill>
                  <a:srgbClr val="2A2D2A"/>
                </a:solidFill>
                <a:latin typeface="Aptos"/>
              </a:rPr>
              <a:t>The same underlying ancient principles may be expressed very differently from world to world.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Artifacts — </a:t>
            </a:r>
            <a:r>
              <a:rPr sz="1800">
                <a:solidFill>
                  <a:srgbClr val="2A2D2A"/>
                </a:solidFill>
                <a:latin typeface="Aptos"/>
              </a:rPr>
              <a:t>Ancient machines may be treated as holy relics, magical weapons, shrines, ruins, or mythical creatures.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Discovery — </a:t>
            </a:r>
            <a:r>
              <a:rPr sz="1800">
                <a:solidFill>
                  <a:srgbClr val="2A2D2A"/>
                </a:solidFill>
                <a:latin typeface="Aptos"/>
              </a:rPr>
              <a:t>The player gradually learns that magic and ancient technology are more closely related than modern cultures realize.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6. Art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A deliberate mixed-media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Characters — </a:t>
            </a:r>
            <a:r>
              <a:rPr sz="1700">
                <a:solidFill>
                  <a:srgbClr val="2A2D2A"/>
                </a:solidFill>
                <a:latin typeface="Aptos"/>
              </a:rPr>
              <a:t>Handcrafted pixel art inspired by Last Ditch Effort: expressive, frame-by-frame animation and strong silhouettes.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Backgrounds — </a:t>
            </a:r>
            <a:r>
              <a:rPr sz="1700">
                <a:solidFill>
                  <a:srgbClr val="2A2D2A"/>
                </a:solidFill>
                <a:latin typeface="Aptos"/>
              </a:rPr>
              <a:t>Hand-drawn, painterly 2D environments. The world itself should feel like an animated fantasy film.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Presentation — </a:t>
            </a:r>
            <a:r>
              <a:rPr sz="1700">
                <a:solidFill>
                  <a:srgbClr val="2A2D2A"/>
                </a:solidFill>
                <a:latin typeface="Aptos"/>
              </a:rPr>
              <a:t>Cinematic 2D camera, parallax, atmospheric depth, dramatic scale, and environmental animation.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Contrast — </a:t>
            </a:r>
            <a:r>
              <a:rPr sz="1700">
                <a:solidFill>
                  <a:srgbClr val="2A2D2A"/>
                </a:solidFill>
                <a:latin typeface="Aptos"/>
              </a:rPr>
              <a:t>Crisp pixel characters intentionally contrast with organic painted environments.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Technology — </a:t>
            </a:r>
            <a:r>
              <a:rPr sz="1700">
                <a:solidFill>
                  <a:srgbClr val="2A2D2A"/>
                </a:solidFill>
                <a:latin typeface="Aptos"/>
              </a:rPr>
              <a:t>Mechs and spacecraft should feel enormous, old, mechanical, and integrated into the natural world.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Target feeling — </a:t>
            </a:r>
            <a:r>
              <a:rPr sz="1700">
                <a:solidFill>
                  <a:srgbClr val="2A2D2A"/>
                </a:solidFill>
                <a:latin typeface="Aptos"/>
              </a:rPr>
              <a:t>A beautiful living fantasy world where the player can look up and see airships or spaceships crossing the sky.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7. Autonomous NPCs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NPCs have lives that exist independently of the player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Each important NPC has — </a:t>
            </a:r>
            <a:r>
              <a:rPr sz="1800">
                <a:solidFill>
                  <a:srgbClr val="2A2D2A"/>
                </a:solidFill>
                <a:latin typeface="Aptos"/>
              </a:rPr>
              <a:t>Personality, needs, relationships, occupation, routines, goals, knowledge, and long-term plans.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Daily life — </a:t>
            </a:r>
            <a:r>
              <a:rPr sz="1800">
                <a:solidFill>
                  <a:srgbClr val="2A2D2A"/>
                </a:solidFill>
                <a:latin typeface="Aptos"/>
              </a:rPr>
              <a:t>NPCs work, eat, travel, socialize, sleep, celebrate, argue, form relationships, and pursue their own goals.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Autonomy — </a:t>
            </a:r>
            <a:r>
              <a:rPr sz="1800">
                <a:solidFill>
                  <a:srgbClr val="2A2D2A"/>
                </a:solidFill>
                <a:latin typeface="Aptos"/>
              </a:rPr>
              <a:t>NPCs can make progress or experience setbacks without the player being present.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Relationships — </a:t>
            </a:r>
            <a:r>
              <a:rPr sz="1800">
                <a:solidFill>
                  <a:srgbClr val="2A2D2A"/>
                </a:solidFill>
                <a:latin typeface="Aptos"/>
              </a:rPr>
              <a:t>Friendships, rivalries, romances, family ties, business partnerships, and grudges can change over time.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Visible simulation — </a:t>
            </a:r>
            <a:r>
              <a:rPr sz="1800">
                <a:solidFill>
                  <a:srgbClr val="2A2D2A"/>
                </a:solidFill>
                <a:latin typeface="Aptos"/>
              </a:rPr>
              <a:t>The player should be able to observe lives changing rather than only reading about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8. Global Calendar &amp;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One shared calendar drives the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Persistent calendar — </a:t>
            </a:r>
            <a:r>
              <a:rPr sz="1700">
                <a:solidFill>
                  <a:srgbClr val="2A2D2A"/>
                </a:solidFill>
                <a:latin typeface="Aptos"/>
              </a:rPr>
              <a:t>The entire game world shares an in-game calendar with days, seasons, years, and recurring dates.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Recurring events — </a:t>
            </a:r>
            <a:r>
              <a:rPr sz="1700">
                <a:solidFill>
                  <a:srgbClr val="2A2D2A"/>
                </a:solidFill>
                <a:latin typeface="Aptos"/>
              </a:rPr>
              <a:t>Festivals, birthdays, memorials, harvests, religious ceremonies, competitions, and seasonal traditions.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Scheduled events — </a:t>
            </a:r>
            <a:r>
              <a:rPr sz="1700">
                <a:solidFill>
                  <a:srgbClr val="2A2D2A"/>
                </a:solidFill>
                <a:latin typeface="Aptos"/>
              </a:rPr>
              <a:t>Political meetings, train openings, discoveries, launches, wars, migrations, and other historical events.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Conditional outcomes — </a:t>
            </a:r>
            <a:r>
              <a:rPr sz="1700">
                <a:solidFill>
                  <a:srgbClr val="2A2D2A"/>
                </a:solidFill>
                <a:latin typeface="Aptos"/>
              </a:rPr>
              <a:t>An event can occur on a known date but resolve differently depending on world state.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Time moves without you — </a:t>
            </a:r>
            <a:r>
              <a:rPr sz="1700">
                <a:solidFill>
                  <a:srgbClr val="2A2D2A"/>
                </a:solidFill>
                <a:latin typeface="Aptos"/>
              </a:rPr>
              <a:t>If the player spends weeks elsewhere, the world does not wait. Events happen and NPCs continue living.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9. Player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The player creates routes by interfering with existing lives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Observe — </a:t>
            </a:r>
            <a:r>
              <a:rPr sz="1800">
                <a:solidFill>
                  <a:srgbClr val="2A2D2A"/>
                </a:solidFill>
                <a:latin typeface="Aptos"/>
              </a:rPr>
              <a:t>Follow people, learn routines, listen to conversations, and discover what is happening.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Intervene — </a:t>
            </a:r>
            <a:r>
              <a:rPr sz="1800">
                <a:solidFill>
                  <a:srgbClr val="2A2D2A"/>
                </a:solidFill>
                <a:latin typeface="Aptos"/>
              </a:rPr>
              <a:t>Help, deceive, persuade, recruit, sabotage, protect, ignore, or otherwise alter an NPC's trajectory.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No traditional route menu — </a:t>
            </a:r>
            <a:r>
              <a:rPr sz="1800">
                <a:solidFill>
                  <a:srgbClr val="2A2D2A"/>
                </a:solidFill>
                <a:latin typeface="Aptos"/>
              </a:rPr>
              <a:t>The game does not present 'Route A / Route B'. Routes emerge from actions and timing.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Missed opportunities — </a:t>
            </a:r>
            <a:r>
              <a:rPr sz="1800">
                <a:solidFill>
                  <a:srgbClr val="2A2D2A"/>
                </a:solidFill>
                <a:latin typeface="Aptos"/>
              </a:rPr>
              <a:t>Events can happen without the player. Missing something is a valid outcome.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Persistent consequences — </a:t>
            </a:r>
            <a:r>
              <a:rPr sz="1800">
                <a:solidFill>
                  <a:srgbClr val="2A2D2A"/>
                </a:solidFill>
                <a:latin typeface="Aptos"/>
              </a:rPr>
              <a:t>A small decision can alter an NPC, a family, a business, a faction, or eventually a region.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10. Unintended &amp; Dark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The game should not label morality for the player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No obvious morality meter — </a:t>
            </a:r>
            <a:r>
              <a:rPr sz="1700">
                <a:solidFill>
                  <a:srgbClr val="2A2D2A"/>
                </a:solidFill>
                <a:latin typeface="Aptos"/>
              </a:rPr>
              <a:t>The player should not see a simple GOOD / EVIL score.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Incomplete information — </a:t>
            </a:r>
            <a:r>
              <a:rPr sz="1700">
                <a:solidFill>
                  <a:srgbClr val="2A2D2A"/>
                </a:solidFill>
                <a:latin typeface="Aptos"/>
              </a:rPr>
              <a:t>Players act based on what they know, which may be incomplete or wrong.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Reasonable decisions can compound — </a:t>
            </a:r>
            <a:r>
              <a:rPr sz="1700">
                <a:solidFill>
                  <a:srgbClr val="2A2D2A"/>
                </a:solidFill>
                <a:latin typeface="Aptos"/>
              </a:rPr>
              <a:t>A helpful decision can create consequences that only become visible much later.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Dark path — </a:t>
            </a:r>
            <a:r>
              <a:rPr sz="1700">
                <a:solidFill>
                  <a:srgbClr val="2A2D2A"/>
                </a:solidFill>
                <a:latin typeface="Aptos"/>
              </a:rPr>
              <a:t>The player may gradually enable exploitation, political oppression, war, or other harmful outcomes without realizing the larger chain.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The world remembers — </a:t>
            </a:r>
            <a:r>
              <a:rPr sz="1700">
                <a:solidFill>
                  <a:srgbClr val="2A2D2A"/>
                </a:solidFill>
                <a:latin typeface="Aptos"/>
              </a:rPr>
              <a:t>Consequences are shown through changed people, places, relationships, politics, and history rather than morality notifications.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11. Mechs, Airships &amp;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Cosmic scale exists inside the living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Airships — </a:t>
            </a:r>
            <a:r>
              <a:rPr sz="1800">
                <a:solidFill>
                  <a:srgbClr val="2A2D2A"/>
                </a:solidFill>
                <a:latin typeface="Aptos"/>
              </a:rPr>
              <a:t>Common enough to populate the sky and connect regions, but still visually impressive.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Spaceships — </a:t>
            </a:r>
            <a:r>
              <a:rPr sz="1800">
                <a:solidFill>
                  <a:srgbClr val="2A2D2A"/>
                </a:solidFill>
                <a:latin typeface="Aptos"/>
              </a:rPr>
              <a:t>Evidence that civilization is expanding beyond individual worlds. Early on, they can remain distant background elements.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Mechs — </a:t>
            </a:r>
            <a:r>
              <a:rPr sz="1800">
                <a:solidFill>
                  <a:srgbClr val="2A2D2A"/>
                </a:solidFill>
                <a:latin typeface="Aptos"/>
              </a:rPr>
              <a:t>Ancient and modern giant machines used for warfare, construction, exploration, religion, or other purposes.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Scale — </a:t>
            </a:r>
            <a:r>
              <a:rPr sz="1800">
                <a:solidFill>
                  <a:srgbClr val="2A2D2A"/>
                </a:solidFill>
                <a:latin typeface="Aptos"/>
              </a:rPr>
              <a:t>Technology should dwarf ordinary people. A mech can become a landmark; a ship can fill the sky.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5B705B"/>
                </a:solidFill>
                <a:latin typeface="Aptos"/>
              </a:rPr>
              <a:t>Progression — </a:t>
            </a:r>
            <a:r>
              <a:rPr sz="1800">
                <a:solidFill>
                  <a:srgbClr val="2A2D2A"/>
                </a:solidFill>
                <a:latin typeface="Aptos"/>
              </a:rPr>
              <a:t>The player can gradually move from seeing these things, to interacting with them, to eventually traveling beyond their home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12. Core RPG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The simulation supports the RPG instead of replacing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B88B52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A2D2A"/>
                </a:solidFill>
                <a:latin typeface="Aptos"/>
              </a:rPr>
              <a:t>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7276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66760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B88B52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536192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A2D2A"/>
                </a:solidFill>
                <a:latin typeface="Aptos"/>
              </a:rPr>
              <a:t>Meet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57276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66760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B88B52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536192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A2D2A"/>
                </a:solidFill>
                <a:latin typeface="Aptos"/>
              </a:rPr>
              <a:t>Learn their lives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57276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66760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554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B88B52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19" y="1536192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A2D2A"/>
                </a:solidFill>
                <a:latin typeface="Aptos"/>
              </a:rPr>
              <a:t>Choose whether to intervene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66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B88B52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47872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A2D2A"/>
                </a:solidFill>
                <a:latin typeface="Aptos"/>
              </a:rPr>
              <a:t>Fight / solve problems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58444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66760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566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B88B52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547872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A2D2A"/>
                </a:solidFill>
                <a:latin typeface="Aptos"/>
              </a:rPr>
              <a:t>Time advances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79" y="358444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66760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566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B88B52"/>
                </a:solidFill>
                <a:latin typeface="Aptos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547872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A2D2A"/>
                </a:solidFill>
                <a:latin typeface="Aptos"/>
              </a:rPr>
              <a:t>World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58444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66760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566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B88B52"/>
                </a:solidFill>
                <a:latin typeface="Aptos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19" y="3547872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A2D2A"/>
                </a:solidFill>
                <a:latin typeface="Aptos"/>
              </a:rPr>
              <a:t>Discover consequences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66760"/>
                </a:solidFill>
                <a:latin typeface="Aptos"/>
              </a:rPr>
              <a:t>Traditional RPG progression (levels, equipment, magic, combat) sits underneath this loop.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13. Solo-Dev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Build a dense corner of the universe, not the whole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World — </a:t>
            </a:r>
            <a:r>
              <a:rPr sz="1700">
                <a:solidFill>
                  <a:srgbClr val="2A2D2A"/>
                </a:solidFill>
                <a:latin typeface="Aptos"/>
              </a:rPr>
              <a:t>1 main planet / region for the first game, with a second world used to demonstrate the wider universe.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Locations — </a:t>
            </a:r>
            <a:r>
              <a:rPr sz="1700">
                <a:solidFill>
                  <a:srgbClr val="2A2D2A"/>
                </a:solidFill>
                <a:latin typeface="Aptos"/>
              </a:rPr>
              <a:t>1 major town or city, 2–3 smaller settlements, 1 wilderness region, 4–6 dungeons/major locations, 1 spaceport/orbital location.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Characters — </a:t>
            </a:r>
            <a:r>
              <a:rPr sz="1700">
                <a:solidFill>
                  <a:srgbClr val="2A2D2A"/>
                </a:solidFill>
                <a:latin typeface="Aptos"/>
              </a:rPr>
              <a:t>4–6 playable characters and roughly 30–50 meaningful NPCs.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Content — </a:t>
            </a:r>
            <a:r>
              <a:rPr sz="1700">
                <a:solidFill>
                  <a:srgbClr val="2A2D2A"/>
                </a:solidFill>
                <a:latin typeface="Aptos"/>
              </a:rPr>
              <a:t>8–12 major bosses, roughly 20–30 enemy archetypes, and a focused story.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Vehicles — </a:t>
            </a:r>
            <a:r>
              <a:rPr sz="1700">
                <a:solidFill>
                  <a:srgbClr val="2A2D2A"/>
                </a:solidFill>
                <a:latin typeface="Aptos"/>
              </a:rPr>
              <a:t>1 important party ship/vehicle and a small number of major mech encounters or story machines.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Target length — </a:t>
            </a:r>
            <a:r>
              <a:rPr sz="1700">
                <a:solidFill>
                  <a:srgbClr val="2A2D2A"/>
                </a:solidFill>
                <a:latin typeface="Aptos"/>
              </a:rPr>
              <a:t>Approximately 15–25 hours for the first full game.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14. Development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Prototype the hardest idea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5B705B"/>
                </a:solidFill>
                <a:latin typeface="Aptos"/>
              </a:rPr>
              <a:t>Prototype 1 — NPC life</a:t>
            </a:r>
            <a:r>
              <a:rPr sz="1600">
                <a:solidFill>
                  <a:srgbClr val="2A2D2A"/>
                </a:solidFill>
                <a:latin typeface="Aptos"/>
              </a:rPr>
              <a:t>Build 5 NPCs with schedules, goals, needs, and relationships. Let them live for 30 in-game days.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5B705B"/>
                </a:solidFill>
                <a:latin typeface="Aptos"/>
              </a:rPr>
              <a:t>Prototype 2 — Calendar</a:t>
            </a:r>
            <a:r>
              <a:rPr sz="1600">
                <a:solidFill>
                  <a:srgbClr val="2A2D2A"/>
                </a:solidFill>
                <a:latin typeface="Aptos"/>
              </a:rPr>
              <a:t>Add fixed, conditional, and recurring events to the timeline.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5B705B"/>
                </a:solidFill>
                <a:latin typeface="Aptos"/>
              </a:rPr>
              <a:t>Prototype 3 — Intervention</a:t>
            </a:r>
            <a:r>
              <a:rPr sz="1600">
                <a:solidFill>
                  <a:srgbClr val="2A2D2A"/>
                </a:solidFill>
                <a:latin typeface="Aptos"/>
              </a:rPr>
              <a:t>Allow the player to disrupt NPC plans and observe the consequences.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5B705B"/>
                </a:solidFill>
                <a:latin typeface="Aptos"/>
              </a:rPr>
              <a:t>Prototype 4 — Presentation</a:t>
            </a:r>
            <a:r>
              <a:rPr sz="1600">
                <a:solidFill>
                  <a:srgbClr val="2A2D2A"/>
                </a:solidFill>
                <a:latin typeface="Aptos"/>
              </a:rPr>
              <a:t>Create one polished town using the hand-painted background + pixel character pipeline.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5B705B"/>
                </a:solidFill>
                <a:latin typeface="Aptos"/>
              </a:rPr>
              <a:t>Prototype 5 — RPG layer</a:t>
            </a:r>
            <a:r>
              <a:rPr sz="1600">
                <a:solidFill>
                  <a:srgbClr val="2A2D2A"/>
                </a:solidFill>
                <a:latin typeface="Aptos"/>
              </a:rPr>
              <a:t>Add exploration, combat, equipment, magic, and progression.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5B705B"/>
                </a:solidFill>
                <a:latin typeface="Aptos"/>
              </a:rPr>
              <a:t>Prototype 6 — Vertical slice</a:t>
            </a:r>
            <a:r>
              <a:rPr sz="1600">
                <a:solidFill>
                  <a:srgbClr val="2A2D2A"/>
                </a:solidFill>
                <a:latin typeface="Aptos"/>
              </a:rPr>
              <a:t>Combine village → wilderness → ancient machine → boss → major world event into a 30–60 minute playable slice.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15. Vertical Slice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The smallest build that proves the entire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Location — </a:t>
            </a:r>
            <a:r>
              <a:rPr sz="1700">
                <a:solidFill>
                  <a:srgbClr val="2A2D2A"/>
                </a:solidFill>
                <a:latin typeface="Aptos"/>
              </a:rPr>
              <a:t>One beautiful town with 5–10 active NPCs.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World simulation — </a:t>
            </a:r>
            <a:r>
              <a:rPr sz="1700">
                <a:solidFill>
                  <a:srgbClr val="2A2D2A"/>
                </a:solidFill>
                <a:latin typeface="Aptos"/>
              </a:rPr>
              <a:t>NPC routines, relationships, and a 30-day calendar.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Event — </a:t>
            </a:r>
            <a:r>
              <a:rPr sz="1700">
                <a:solidFill>
                  <a:srgbClr val="2A2D2A"/>
                </a:solidFill>
                <a:latin typeface="Aptos"/>
              </a:rPr>
              <a:t>A scheduled local event that occurs whether or not the player participates.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Intervention — </a:t>
            </a:r>
            <a:r>
              <a:rPr sz="1700">
                <a:solidFill>
                  <a:srgbClr val="2A2D2A"/>
                </a:solidFill>
                <a:latin typeface="Aptos"/>
              </a:rPr>
              <a:t>The player can alter at least one NPC's planned trajectory.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Adventure — </a:t>
            </a:r>
            <a:r>
              <a:rPr sz="1700">
                <a:solidFill>
                  <a:srgbClr val="2A2D2A"/>
                </a:solidFill>
                <a:latin typeface="Aptos"/>
              </a:rPr>
              <a:t>A nearby wilderness area and one ancient godly ruin.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Spectacle — </a:t>
            </a:r>
            <a:r>
              <a:rPr sz="1700">
                <a:solidFill>
                  <a:srgbClr val="2A2D2A"/>
                </a:solidFill>
                <a:latin typeface="Aptos"/>
              </a:rPr>
              <a:t>An airship or spaceship crosses the sky; the player discovers a massive ancient machine.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5B705B"/>
                </a:solidFill>
                <a:latin typeface="Aptos"/>
              </a:rPr>
              <a:t>Payoff — </a:t>
            </a:r>
            <a:r>
              <a:rPr sz="1700">
                <a:solidFill>
                  <a:srgbClr val="2A2D2A"/>
                </a:solidFill>
                <a:latin typeface="Aptos"/>
              </a:rPr>
              <a:t>The player returns to town and can visibly see that the world changed because of time and/or their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16. What NOT to Build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Protect the project from scope explosion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2A2D2A"/>
                </a:solidFill>
                <a:latin typeface="Aptos"/>
              </a:rPr>
              <a:t>• A fully explorable galaxy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A2D2A"/>
                </a:solidFill>
                <a:latin typeface="Aptos"/>
              </a:rPr>
              <a:t>• Dozens of planets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A2D2A"/>
                </a:solidFill>
                <a:latin typeface="Aptos"/>
              </a:rPr>
              <a:t>• Hundreds of fully simulated NPCs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A2D2A"/>
                </a:solidFill>
                <a:latin typeface="Aptos"/>
              </a:rPr>
              <a:t>• Large mech combat systems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A2D2A"/>
                </a:solidFill>
                <a:latin typeface="Aptos"/>
              </a:rPr>
              <a:t>• Complex spaceship combat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A2D2A"/>
                </a:solidFill>
                <a:latin typeface="Aptos"/>
              </a:rPr>
              <a:t>• Every pantheon and its complete mythology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A2D2A"/>
                </a:solidFill>
                <a:latin typeface="Aptos"/>
              </a:rPr>
              <a:t>• Multiple giant cities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A2D2A"/>
                </a:solidFill>
                <a:latin typeface="Aptos"/>
              </a:rPr>
              <a:t>• A massive branching main story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A2D2A"/>
                </a:solidFill>
                <a:latin typeface="Aptos"/>
              </a:rPr>
              <a:t>• Fully simulated economies across every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B88B52"/>
                </a:solidFill>
                <a:latin typeface="Aptos"/>
              </a:rPr>
              <a:t>These belong to the universe bible, not the first playable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B705B"/>
                </a:solidFill>
                <a:latin typeface="Aptos"/>
              </a:rPr>
              <a:t>NORTH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700" b="1">
                <a:solidFill>
                  <a:srgbClr val="2A2D2A"/>
                </a:solidFill>
                <a:latin typeface="Aptos"/>
              </a:rPr>
              <a:t>Make the player feel like they
are living in a world that
would exist without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6052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666760"/>
                </a:solidFill>
                <a:latin typeface="Aptos"/>
              </a:rPr>
              <a:t>The gods create the history.
The world carries it forward.
NPCs live inside it.
The player changes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76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A2D2A"/>
                </a:solidFill>
                <a:latin typeface="Aptos"/>
              </a:rPr>
              <a:t>15. Technical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760"/>
                </a:solidFill>
                <a:latin typeface="Aptos"/>
              </a:rPr>
              <a:t>Engine, implementation philosophy, and maintainability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5B705B"/>
                </a:solidFill>
                <a:latin typeface="Aptos"/>
              </a:rPr>
              <a:t>• Engine — </a:t>
            </a:r>
            <a:r>
              <a:rPr sz="1700">
                <a:solidFill>
                  <a:srgbClr val="2A2D2A"/>
                </a:solidFill>
                <a:latin typeface="Aptos"/>
              </a:rPr>
              <a:t>Unreal Engine 5.5.4.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5B705B"/>
                </a:solidFill>
                <a:latin typeface="Aptos"/>
              </a:rPr>
              <a:t>• Primary implementation — </a:t>
            </a:r>
            <a:r>
              <a:rPr sz="1700">
                <a:solidFill>
                  <a:srgbClr val="2A2D2A"/>
                </a:solidFill>
                <a:latin typeface="Aptos"/>
              </a:rPr>
              <a:t>C++ / traditional code for core gameplay and system architecture.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5B705B"/>
                </a:solidFill>
                <a:latin typeface="Aptos"/>
              </a:rPr>
              <a:t>• Blueprint philosophy — </a:t>
            </a:r>
            <a:r>
              <a:rPr sz="1700">
                <a:solidFill>
                  <a:srgbClr val="2A2D2A"/>
                </a:solidFill>
                <a:latin typeface="Aptos"/>
              </a:rPr>
              <a:t>Use Blueprints only when necessary or when Unreal's visual tools provide a clear practical advantage.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5B705B"/>
                </a:solidFill>
                <a:latin typeface="Aptos"/>
              </a:rPr>
              <a:t>• Build order — </a:t>
            </a:r>
            <a:r>
              <a:rPr sz="1700">
                <a:solidFill>
                  <a:srgbClr val="2A2D2A"/>
                </a:solidFill>
                <a:latin typeface="Aptos"/>
              </a:rPr>
              <a:t>Complete and stabilize core code systems first, then expose only the functionality that needs to be authored or adjusted through Blueprints.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5B705B"/>
                </a:solidFill>
                <a:latin typeface="Aptos"/>
              </a:rPr>
              <a:t>• Core systems in code — </a:t>
            </a:r>
            <a:r>
              <a:rPr sz="1700">
                <a:solidFill>
                  <a:srgbClr val="2A2D2A"/>
                </a:solidFill>
                <a:latin typeface="Aptos"/>
              </a:rPr>
              <a:t>NPC simulation, schedules, relationships, calendar, world state, event logic, progression, and other foundational systems should remain primarily code-driven.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5B705B"/>
                </a:solidFill>
                <a:latin typeface="Aptos"/>
              </a:rPr>
              <a:t>• Blueprint use cases — </a:t>
            </a:r>
            <a:r>
              <a:rPr sz="1700">
                <a:solidFill>
                  <a:srgbClr val="2A2D2A"/>
                </a:solidFill>
                <a:latin typeface="Aptos"/>
              </a:rPr>
              <a:t>Content setup, visual scripting where appropriate, Sequencer/cinematic work, exposed tuning, and other tasks where Blueprint materially improves iteration.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5B705B"/>
                </a:solidFill>
                <a:latin typeface="Aptos"/>
              </a:rPr>
              <a:t>• Goal — </a:t>
            </a:r>
            <a:r>
              <a:rPr sz="1700">
                <a:solidFill>
                  <a:srgbClr val="2A2D2A"/>
                </a:solidFill>
                <a:latin typeface="Aptos"/>
              </a:rPr>
              <a:t>Keep the project maintainable and scalable for a solo developer while still taking advantage of Unreal's content and visual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88B52"/>
                </a:solidFill>
                <a:latin typeface="Aptos"/>
              </a:rPr>
              <a:t>Technical target: Unreal Engine 5.5.4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